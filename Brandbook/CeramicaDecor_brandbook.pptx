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4" r:id="rId4"/>
    <p:sldId id="265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3B25"/>
    <a:srgbClr val="DCD5C8"/>
    <a:srgbClr val="C9C2B7"/>
    <a:srgbClr val="FFA1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66" d="100"/>
          <a:sy n="66" d="100"/>
        </p:scale>
        <p:origin x="1724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24278-AF50-08B1-1E1B-43A441E02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FD949-2E32-8626-6108-70DEBF239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D47E1-27DA-E483-DE20-78DDA21F8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E8CAA-0C92-F0E4-E868-615BB833D08E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256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F3F42-B91F-6D88-232E-242DA00BC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62C0C-80BB-366D-DE97-0C31557A0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F66E96-2EE3-F01E-3673-93CA68529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73490-F815-49E6-D894-82D4AEEB444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834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062F2B9-139C-DD49-CD49-2353DC1C1B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1" r="29391" b="31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Shape 0">
            <a:extLst>
              <a:ext uri="{FF2B5EF4-FFF2-40B4-BE49-F238E27FC236}">
                <a16:creationId xmlns:a16="http://schemas.microsoft.com/office/drawing/2014/main" id="{C5D5D0C2-59D0-A0F2-96CA-D4C999F0DE5B}"/>
              </a:ext>
            </a:extLst>
          </p:cNvPr>
          <p:cNvSpPr/>
          <p:nvPr/>
        </p:nvSpPr>
        <p:spPr>
          <a:xfrm>
            <a:off x="0" y="0"/>
            <a:ext cx="4851022" cy="6857999"/>
          </a:xfrm>
          <a:prstGeom prst="rect">
            <a:avLst/>
          </a:prstGeom>
          <a:solidFill>
            <a:srgbClr val="5F2C09">
              <a:alpha val="70000"/>
            </a:srgbClr>
          </a:solidFill>
          <a:ln w="12700">
            <a:solidFill>
              <a:srgbClr val="5F2C0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C9615DC1-C3AF-BB00-2300-64BE69DFF941}"/>
              </a:ext>
            </a:extLst>
          </p:cNvPr>
          <p:cNvSpPr/>
          <p:nvPr/>
        </p:nvSpPr>
        <p:spPr>
          <a:xfrm>
            <a:off x="0" y="-1"/>
            <a:ext cx="782892" cy="6857999"/>
          </a:xfrm>
          <a:prstGeom prst="rect">
            <a:avLst/>
          </a:prstGeom>
          <a:solidFill>
            <a:srgbClr val="CA3C23">
              <a:alpha val="50000"/>
            </a:srgbClr>
          </a:solidFill>
          <a:ln w="12700">
            <a:solidFill>
              <a:srgbClr val="CA3C2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ru-RU">
              <a:solidFill>
                <a:srgbClr val="CB3B25"/>
              </a:solidFill>
            </a:endParaRPr>
          </a:p>
        </p:txBody>
      </p:sp>
      <p:sp>
        <p:nvSpPr>
          <p:cNvPr id="13" name="Заголовок 3">
            <a:extLst>
              <a:ext uri="{FF2B5EF4-FFF2-40B4-BE49-F238E27FC236}">
                <a16:creationId xmlns:a16="http://schemas.microsoft.com/office/drawing/2014/main" id="{480950C0-A729-587E-E59D-176C65BE8077}"/>
              </a:ext>
            </a:extLst>
          </p:cNvPr>
          <p:cNvSpPr txBox="1">
            <a:spLocks/>
          </p:cNvSpPr>
          <p:nvPr/>
        </p:nvSpPr>
        <p:spPr>
          <a:xfrm>
            <a:off x="860438" y="4550302"/>
            <a:ext cx="3990584" cy="72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3600" dirty="0">
                <a:solidFill>
                  <a:schemeClr val="bg1"/>
                </a:solidFill>
                <a:latin typeface="TT Commons Pro Regular"/>
                <a:ea typeface="Cambria" panose="02040503050406030204" pitchFamily="18" charset="0"/>
                <a:cs typeface="TT Commons Pro" panose="020B0103030102020204" pitchFamily="34" charset="0"/>
              </a:rPr>
              <a:t>Брендбук</a:t>
            </a:r>
          </a:p>
        </p:txBody>
      </p:sp>
      <p:sp>
        <p:nvSpPr>
          <p:cNvPr id="14" name="Заголовок 3">
            <a:extLst>
              <a:ext uri="{FF2B5EF4-FFF2-40B4-BE49-F238E27FC236}">
                <a16:creationId xmlns:a16="http://schemas.microsoft.com/office/drawing/2014/main" id="{718984F6-45ED-FF37-1E8C-066161C6DE0B}"/>
              </a:ext>
            </a:extLst>
          </p:cNvPr>
          <p:cNvSpPr txBox="1">
            <a:spLocks/>
          </p:cNvSpPr>
          <p:nvPr/>
        </p:nvSpPr>
        <p:spPr>
          <a:xfrm>
            <a:off x="860438" y="2319323"/>
            <a:ext cx="3990584" cy="250928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400" b="1" dirty="0">
                <a:solidFill>
                  <a:schemeClr val="bg1"/>
                </a:solidFill>
                <a:latin typeface="TT Ramillas Trl Light" panose="020E0000080000020004" pitchFamily="34" charset="0"/>
                <a:ea typeface="Cambria" panose="02040503050406030204" pitchFamily="18" charset="0"/>
              </a:rPr>
              <a:t>Премиальные камины, печи</a:t>
            </a:r>
          </a:p>
          <a:p>
            <a:pPr algn="l"/>
            <a:r>
              <a:rPr lang="ru-RU" sz="4400" b="1" dirty="0">
                <a:solidFill>
                  <a:schemeClr val="bg1"/>
                </a:solidFill>
                <a:latin typeface="TT Ramillas Trl Light" panose="020E0000080000020004" pitchFamily="34" charset="0"/>
                <a:ea typeface="Cambria" panose="02040503050406030204" pitchFamily="18" charset="0"/>
              </a:rPr>
              <a:t>и изразцы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698FA18-013F-C951-6E03-3B8E4726D94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80" y="1260924"/>
            <a:ext cx="3168000" cy="77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63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A272E69-AA68-4C69-AE2C-1058213046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C70C51D3-5916-351B-F0F4-5A0FA63D747E}"/>
              </a:ext>
            </a:extLst>
          </p:cNvPr>
          <p:cNvSpPr>
            <a:spLocks noGrp="1"/>
          </p:cNvSpPr>
          <p:nvPr/>
        </p:nvSpPr>
        <p:spPr>
          <a:xfrm>
            <a:off x="6618208" y="1125130"/>
            <a:ext cx="4938790" cy="2303869"/>
          </a:xfrm>
          <a:prstGeom prst="rect">
            <a:avLst/>
          </a:prstGeom>
          <a:solidFill>
            <a:srgbClr val="1A1A1A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FB211187-5052-DAA5-A8B4-1603C9C1136D}"/>
              </a:ext>
            </a:extLst>
          </p:cNvPr>
          <p:cNvSpPr>
            <a:spLocks noGrp="1"/>
          </p:cNvSpPr>
          <p:nvPr/>
        </p:nvSpPr>
        <p:spPr>
          <a:xfrm>
            <a:off x="634998" y="1125131"/>
            <a:ext cx="2552700" cy="1419106"/>
          </a:xfrm>
          <a:prstGeom prst="rect">
            <a:avLst/>
          </a:prstGeom>
          <a:solidFill>
            <a:schemeClr val="bg1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FA8FAAA-557B-40CD-BEE3-5BCF70D1D371}"/>
              </a:ext>
            </a:extLst>
          </p:cNvPr>
          <p:cNvSpPr>
            <a:spLocks noGrp="1"/>
          </p:cNvSpPr>
          <p:nvPr/>
        </p:nvSpPr>
        <p:spPr>
          <a:xfrm>
            <a:off x="634998" y="364391"/>
            <a:ext cx="342900" cy="19050"/>
          </a:xfrm>
          <a:prstGeom prst="rect">
            <a:avLst/>
          </a:prstGeom>
          <a:solidFill>
            <a:srgbClr val="CB3B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C645160C-1BF0-47F9-BC54-B06964E92317}"/>
              </a:ext>
            </a:extLst>
          </p:cNvPr>
          <p:cNvSpPr>
            <a:spLocks noGrp="1"/>
          </p:cNvSpPr>
          <p:nvPr/>
        </p:nvSpPr>
        <p:spPr>
          <a:xfrm>
            <a:off x="1111248" y="288191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A15E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200" b="0" dirty="0">
                <a:solidFill>
                  <a:srgbClr val="FFA15E"/>
                </a:solidFill>
                <a:latin typeface="TT Commons Pro" panose="020B0103030102020204"/>
                <a:ea typeface="TT Commons Pro Regular"/>
                <a:cs typeface="TT Commons Pro Regular"/>
              </a:rPr>
              <a:t>ЛОГОТИП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34971AE-C9AD-457D-A5B0-83C1A1070B48}"/>
              </a:ext>
            </a:extLst>
          </p:cNvPr>
          <p:cNvSpPr>
            <a:spLocks noGrp="1"/>
          </p:cNvSpPr>
          <p:nvPr/>
        </p:nvSpPr>
        <p:spPr>
          <a:xfrm>
            <a:off x="2712718" y="2697855"/>
            <a:ext cx="3332480" cy="1919542"/>
          </a:xfrm>
          <a:prstGeom prst="rect">
            <a:avLst/>
          </a:prstGeom>
          <a:solidFill>
            <a:srgbClr val="1A1A1A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8A725AE-407B-4FCA-BF5F-F047FF720FD3}"/>
              </a:ext>
            </a:extLst>
          </p:cNvPr>
          <p:cNvSpPr>
            <a:spLocks noGrp="1"/>
          </p:cNvSpPr>
          <p:nvPr/>
        </p:nvSpPr>
        <p:spPr>
          <a:xfrm>
            <a:off x="685800" y="6332012"/>
            <a:ext cx="108204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5656580-F270-46E7-B41B-AC8AB529ECE4}"/>
              </a:ext>
            </a:extLst>
          </p:cNvPr>
          <p:cNvSpPr>
            <a:spLocks noGrp="1"/>
          </p:cNvSpPr>
          <p:nvPr/>
        </p:nvSpPr>
        <p:spPr>
          <a:xfrm>
            <a:off x="685800" y="6474887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100" b="0" dirty="0" err="1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CeramicaDecor</a:t>
            </a:r>
            <a:r>
              <a:rPr sz="1100" b="0" dirty="0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 </a:t>
            </a:r>
            <a:r>
              <a:rPr sz="1100" b="0" dirty="0" err="1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brandbook</a:t>
            </a:r>
            <a:endParaRPr sz="1100" b="0" dirty="0">
              <a:solidFill>
                <a:schemeClr val="bg1"/>
              </a:solidFill>
              <a:latin typeface="TT Commons Pro Regular"/>
              <a:ea typeface="TT Commons Pro Regular"/>
              <a:cs typeface="TT Commons Pro Regular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43C848A-62A8-416A-822D-7EF007E316BA}"/>
              </a:ext>
            </a:extLst>
          </p:cNvPr>
          <p:cNvSpPr>
            <a:spLocks noGrp="1"/>
          </p:cNvSpPr>
          <p:nvPr/>
        </p:nvSpPr>
        <p:spPr>
          <a:xfrm>
            <a:off x="11049000" y="6474887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100" b="0" dirty="0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0</a:t>
            </a:r>
            <a:r>
              <a:rPr lang="ru-RU" sz="1100" b="0" dirty="0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2</a:t>
            </a:r>
            <a:endParaRPr sz="1100" b="0" dirty="0">
              <a:solidFill>
                <a:schemeClr val="bg1"/>
              </a:solidFill>
              <a:latin typeface="TT Commons Pro Regular"/>
              <a:ea typeface="TT Commons Pro Regular"/>
              <a:cs typeface="TT Commons Pro Regular"/>
            </a:endParaRP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0748" y="1613251"/>
            <a:ext cx="1981200" cy="461294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171B6704-9814-AF6A-665A-FE7F9FAB1852}"/>
              </a:ext>
            </a:extLst>
          </p:cNvPr>
          <p:cNvSpPr/>
          <p:nvPr/>
        </p:nvSpPr>
        <p:spPr>
          <a:xfrm>
            <a:off x="634998" y="573941"/>
            <a:ext cx="9024408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ru-RU" sz="2600" b="1" dirty="0">
                <a:solidFill>
                  <a:schemeClr val="bg1"/>
                </a:solidFill>
                <a:latin typeface="TT Ramillas Trl Light" panose="020E0000080000020004" pitchFamily="34" charset="0"/>
                <a:ea typeface="Cambria" pitchFamily="34" charset="-122"/>
              </a:rPr>
              <a:t>ПРАВИЛА ИСПОЛЬЗОВАНИЯ ЛОГОТИПА</a:t>
            </a:r>
            <a:endParaRPr lang="en-US" sz="2600" dirty="0">
              <a:solidFill>
                <a:schemeClr val="bg1"/>
              </a:solidFill>
              <a:latin typeface="TT Ramillas Trl Light" panose="020E0000080000020004" pitchFamily="34" charset="0"/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964E56C9-462C-D03A-734B-329820110150}"/>
              </a:ext>
            </a:extLst>
          </p:cNvPr>
          <p:cNvSpPr/>
          <p:nvPr/>
        </p:nvSpPr>
        <p:spPr>
          <a:xfrm>
            <a:off x="0" y="-18288"/>
            <a:ext cx="12192000" cy="73152"/>
          </a:xfrm>
          <a:prstGeom prst="rect">
            <a:avLst/>
          </a:prstGeom>
          <a:solidFill>
            <a:srgbClr val="CA3C23"/>
          </a:solidFill>
          <a:ln w="12700">
            <a:solidFill>
              <a:srgbClr val="AC2A1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1350DBE-EABB-7F21-1300-69EBE8CFFB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80" t="4411" r="5877" b="5186"/>
          <a:stretch>
            <a:fillRect/>
          </a:stretch>
        </p:blipFill>
        <p:spPr>
          <a:xfrm>
            <a:off x="634998" y="2697854"/>
            <a:ext cx="1778001" cy="1919542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49DC556-821D-C47E-7CF0-BA58ABF0D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207" y="3748998"/>
            <a:ext cx="4938789" cy="238568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F4C14A4-FEAB-C544-6B8A-A7CDDDBBC495}"/>
              </a:ext>
            </a:extLst>
          </p:cNvPr>
          <p:cNvSpPr txBox="1"/>
          <p:nvPr/>
        </p:nvSpPr>
        <p:spPr>
          <a:xfrm>
            <a:off x="2622548" y="2697854"/>
            <a:ext cx="3422649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/>
            <a:r>
              <a:rPr lang="ru-RU" sz="1700" b="0" i="0" u="none" strike="noStrike" dirty="0">
                <a:solidFill>
                  <a:schemeClr val="bg1"/>
                </a:solidFill>
                <a:effectLst/>
                <a:latin typeface="TT Commons Pro" panose="020B0103030102020204" pitchFamily="34" charset="0"/>
                <a:ea typeface="Cambria" panose="02040503050406030204" pitchFamily="18" charset="0"/>
                <a:cs typeface="TT Commons Pro" panose="020B0103030102020204" pitchFamily="34" charset="0"/>
              </a:rPr>
              <a:t>Логотип можно использовать</a:t>
            </a:r>
          </a:p>
          <a:p>
            <a:pPr algn="r" rtl="0"/>
            <a:r>
              <a:rPr lang="ru-RU" sz="1700" b="0" i="0" u="none" strike="noStrike" dirty="0">
                <a:solidFill>
                  <a:schemeClr val="bg1"/>
                </a:solidFill>
                <a:effectLst/>
                <a:latin typeface="TT Commons Pro" panose="020B0103030102020204" pitchFamily="34" charset="0"/>
                <a:ea typeface="Cambria" panose="02040503050406030204" pitchFamily="18" charset="0"/>
                <a:cs typeface="TT Commons Pro" panose="020B0103030102020204" pitchFamily="34" charset="0"/>
              </a:rPr>
              <a:t>в вертикальном формате. А также</a:t>
            </a:r>
          </a:p>
          <a:p>
            <a:pPr algn="r" rtl="0"/>
            <a:r>
              <a:rPr lang="ru-RU" sz="1700" b="0" i="0" u="none" strike="noStrike" dirty="0">
                <a:solidFill>
                  <a:schemeClr val="bg1"/>
                </a:solidFill>
                <a:effectLst/>
                <a:latin typeface="TT Commons Pro" panose="020B0103030102020204" pitchFamily="34" charset="0"/>
                <a:ea typeface="Cambria" panose="02040503050406030204" pitchFamily="18" charset="0"/>
                <a:cs typeface="TT Commons Pro" panose="020B0103030102020204" pitchFamily="34" charset="0"/>
              </a:rPr>
              <a:t>можно использовать инверсию логотипа в белом цвете. Изменяемым является размер логотипа, его носитель, печатная область или назначение макета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7A3E247-59CA-AD02-ED1A-15C69FF2222E}"/>
              </a:ext>
            </a:extLst>
          </p:cNvPr>
          <p:cNvSpPr>
            <a:spLocks noGrp="1"/>
          </p:cNvSpPr>
          <p:nvPr/>
        </p:nvSpPr>
        <p:spPr>
          <a:xfrm>
            <a:off x="3492498" y="1125131"/>
            <a:ext cx="2552700" cy="1419106"/>
          </a:xfrm>
          <a:prstGeom prst="rect">
            <a:avLst/>
          </a:prstGeom>
          <a:solidFill>
            <a:srgbClr val="1A1A1A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/>
        </p:blipFill>
        <p:spPr>
          <a:xfrm>
            <a:off x="3778248" y="1613251"/>
            <a:ext cx="1981200" cy="46129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68B44F2-C748-75B9-9DFF-D12340EA8941}"/>
              </a:ext>
            </a:extLst>
          </p:cNvPr>
          <p:cNvSpPr txBox="1"/>
          <p:nvPr/>
        </p:nvSpPr>
        <p:spPr>
          <a:xfrm>
            <a:off x="6705503" y="1625854"/>
            <a:ext cx="474989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1700" b="0" i="0" u="none" strike="noStrike" dirty="0">
                <a:solidFill>
                  <a:schemeClr val="bg1"/>
                </a:solidFill>
                <a:effectLst/>
                <a:latin typeface="TT Commons Pro" panose="020B0103030102020204" pitchFamily="34" charset="0"/>
                <a:ea typeface="Cambria" panose="02040503050406030204" pitchFamily="18" charset="0"/>
                <a:cs typeface="TT Commons Pro" panose="020B0103030102020204" pitchFamily="34" charset="0"/>
              </a:rPr>
              <a:t>В пределах охранного поля не должны размещаться посторонние элементы дизайна (текст, фотографии, иллюстрации и пр.). Охранное поле занимает 10% от ширины логотипа (X) и 15% от высоты логотипа (Y). Не меняется в зависимости от размеров логотипа 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7EC48191-4F6F-A7B7-2DD9-680E388C77A3}"/>
              </a:ext>
            </a:extLst>
          </p:cNvPr>
          <p:cNvSpPr>
            <a:spLocks noGrp="1"/>
          </p:cNvSpPr>
          <p:nvPr/>
        </p:nvSpPr>
        <p:spPr>
          <a:xfrm>
            <a:off x="634998" y="4775075"/>
            <a:ext cx="5410199" cy="1359608"/>
          </a:xfrm>
          <a:prstGeom prst="rect">
            <a:avLst/>
          </a:prstGeom>
          <a:solidFill>
            <a:srgbClr val="FFFFFF">
              <a:alpha val="5882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3E908A-37A7-3304-3775-5B35B37A5652}"/>
              </a:ext>
            </a:extLst>
          </p:cNvPr>
          <p:cNvSpPr txBox="1"/>
          <p:nvPr/>
        </p:nvSpPr>
        <p:spPr>
          <a:xfrm>
            <a:off x="723803" y="5191128"/>
            <a:ext cx="5321393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1700" b="0" i="0" u="none" strike="noStrike" dirty="0">
                <a:solidFill>
                  <a:schemeClr val="bg1"/>
                </a:solidFill>
                <a:effectLst/>
                <a:latin typeface="TT Commons Pro" panose="020B0103030102020204" pitchFamily="34" charset="0"/>
                <a:ea typeface="Cambria" panose="02040503050406030204" pitchFamily="18" charset="0"/>
                <a:cs typeface="TT Commons Pro" panose="020B0103030102020204" pitchFamily="34" charset="0"/>
              </a:rPr>
              <a:t>Перекрашивать в сторонние цвета, вращать, добавлять тень, деформировать, использовать обводку или контур сторонних цветов</a:t>
            </a:r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8018A2FB-233F-F195-6D82-4D45CFDEE1FA}"/>
              </a:ext>
            </a:extLst>
          </p:cNvPr>
          <p:cNvSpPr/>
          <p:nvPr/>
        </p:nvSpPr>
        <p:spPr>
          <a:xfrm>
            <a:off x="6768918" y="1237772"/>
            <a:ext cx="2651760" cy="32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b="1" kern="0" spc="200" dirty="0">
                <a:solidFill>
                  <a:srgbClr val="FFA15E"/>
                </a:solidFill>
                <a:latin typeface="TT Commons Pro Trial Light" panose="020B0103030102020204" pitchFamily="34" charset="0"/>
                <a:ea typeface="Calibri" pitchFamily="34" charset="-122"/>
                <a:cs typeface="TT Commons Pro Trial Light" panose="020B0103030102020204" pitchFamily="34" charset="0"/>
              </a:rPr>
              <a:t>ОХРАННОЕ ПОЛЕ</a:t>
            </a:r>
            <a:endParaRPr lang="en-US" b="1" dirty="0">
              <a:solidFill>
                <a:srgbClr val="FFA15E"/>
              </a:solidFill>
              <a:latin typeface="TT Commons Pro Trial Light" panose="020B0103030102020204" pitchFamily="34" charset="0"/>
              <a:cs typeface="TT Commons Pro Trial Light" panose="020B0103030102020204" pitchFamily="34" charset="0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CE8B61A3-8546-EF6A-5EDA-992A72B870DE}"/>
              </a:ext>
            </a:extLst>
          </p:cNvPr>
          <p:cNvSpPr/>
          <p:nvPr/>
        </p:nvSpPr>
        <p:spPr>
          <a:xfrm>
            <a:off x="806448" y="4869263"/>
            <a:ext cx="2651760" cy="328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b="1" kern="0" spc="200" dirty="0">
                <a:solidFill>
                  <a:srgbClr val="FFA15E"/>
                </a:solidFill>
                <a:latin typeface="TT Commons Pro Trial Light" panose="020B0103030102020204" pitchFamily="34" charset="0"/>
                <a:ea typeface="Calibri" pitchFamily="34" charset="-122"/>
                <a:cs typeface="TT Commons Pro Trial Light" panose="020B0103030102020204" pitchFamily="34" charset="0"/>
              </a:rPr>
              <a:t>НЕЛЬЗЯ</a:t>
            </a:r>
            <a:endParaRPr lang="en-US" b="1" dirty="0">
              <a:solidFill>
                <a:srgbClr val="FFA15E"/>
              </a:solidFill>
              <a:latin typeface="TT Commons Pro Trial Light" panose="020B0103030102020204" pitchFamily="34" charset="0"/>
              <a:cs typeface="TT Commons Pro Trial Light" panose="020B010303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18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3F8E6-FB8B-8FF7-E0BE-50ACF08A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F37316D-D9BC-C9E4-43AE-DE02A9A956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BF2AC4F-FCBE-A077-9E07-6D5EE3603D2D}"/>
              </a:ext>
            </a:extLst>
          </p:cNvPr>
          <p:cNvSpPr>
            <a:spLocks noGrp="1"/>
          </p:cNvSpPr>
          <p:nvPr/>
        </p:nvSpPr>
        <p:spPr>
          <a:xfrm>
            <a:off x="634998" y="364391"/>
            <a:ext cx="342900" cy="19050"/>
          </a:xfrm>
          <a:prstGeom prst="rect">
            <a:avLst/>
          </a:prstGeom>
          <a:solidFill>
            <a:srgbClr val="CB3B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6720511-26DF-A37D-8C23-7BEF7C7C0411}"/>
              </a:ext>
            </a:extLst>
          </p:cNvPr>
          <p:cNvSpPr>
            <a:spLocks noGrp="1"/>
          </p:cNvSpPr>
          <p:nvPr/>
        </p:nvSpPr>
        <p:spPr>
          <a:xfrm>
            <a:off x="1111248" y="288191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A15E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lang="ru-RU" sz="1200" b="0" dirty="0">
                <a:solidFill>
                  <a:srgbClr val="FFA15E"/>
                </a:solidFill>
                <a:latin typeface="TT Commons Pro" panose="020B0103030102020204"/>
                <a:ea typeface="TT Commons Pro Regular"/>
                <a:cs typeface="TT Commons Pro Regular"/>
              </a:rPr>
              <a:t>ЦВЕТА</a:t>
            </a:r>
            <a:endParaRPr sz="1200" b="0" dirty="0">
              <a:solidFill>
                <a:srgbClr val="FFA15E"/>
              </a:solidFill>
              <a:latin typeface="TT Commons Pro" panose="020B0103030102020204"/>
              <a:ea typeface="TT Commons Pro Regular"/>
              <a:cs typeface="TT Commons Pro Regular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1AE4AB4-91DF-8657-D903-B692BF2F2BFD}"/>
              </a:ext>
            </a:extLst>
          </p:cNvPr>
          <p:cNvSpPr>
            <a:spLocks noGrp="1"/>
          </p:cNvSpPr>
          <p:nvPr/>
        </p:nvSpPr>
        <p:spPr>
          <a:xfrm>
            <a:off x="685800" y="6332012"/>
            <a:ext cx="108204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C4C85E6-A11A-DDA1-D42D-A3919B4F9014}"/>
              </a:ext>
            </a:extLst>
          </p:cNvPr>
          <p:cNvSpPr>
            <a:spLocks noGrp="1"/>
          </p:cNvSpPr>
          <p:nvPr/>
        </p:nvSpPr>
        <p:spPr>
          <a:xfrm>
            <a:off x="685800" y="6474887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100" b="0" dirty="0" err="1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CeramicaDecor</a:t>
            </a:r>
            <a:r>
              <a:rPr sz="1100" b="0" dirty="0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 </a:t>
            </a:r>
            <a:r>
              <a:rPr sz="1100" b="0" dirty="0" err="1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brandbook</a:t>
            </a:r>
            <a:endParaRPr sz="1100" b="0" dirty="0">
              <a:solidFill>
                <a:schemeClr val="bg1"/>
              </a:solidFill>
              <a:latin typeface="TT Commons Pro Regular"/>
              <a:ea typeface="TT Commons Pro Regular"/>
              <a:cs typeface="TT Commons Pro Regular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D52D93B-D819-2C99-9145-D8D9150C6D9C}"/>
              </a:ext>
            </a:extLst>
          </p:cNvPr>
          <p:cNvSpPr>
            <a:spLocks noGrp="1"/>
          </p:cNvSpPr>
          <p:nvPr/>
        </p:nvSpPr>
        <p:spPr>
          <a:xfrm>
            <a:off x="11049000" y="6474887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100" b="0" dirty="0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03</a:t>
            </a: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C6B90B3A-FED5-68BC-6E7A-F4DDF224B1A7}"/>
              </a:ext>
            </a:extLst>
          </p:cNvPr>
          <p:cNvSpPr/>
          <p:nvPr/>
        </p:nvSpPr>
        <p:spPr>
          <a:xfrm>
            <a:off x="634998" y="573941"/>
            <a:ext cx="9024408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ru-RU" sz="2600" b="1" dirty="0">
                <a:solidFill>
                  <a:schemeClr val="bg1"/>
                </a:solidFill>
                <a:latin typeface="TT Ramillas Trl Light" panose="020E0000080000020004" pitchFamily="34" charset="0"/>
                <a:ea typeface="Cambria" pitchFamily="34" charset="-122"/>
              </a:rPr>
              <a:t>ЦВЕТОВАЯ ПАЛИТРА</a:t>
            </a:r>
            <a:endParaRPr lang="en-US" sz="2600" dirty="0">
              <a:solidFill>
                <a:schemeClr val="bg1"/>
              </a:solidFill>
              <a:latin typeface="TT Ramillas Trl Light" panose="020E0000080000020004" pitchFamily="34" charset="0"/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AB378371-0C70-B471-2E0F-87D575BBD5A7}"/>
              </a:ext>
            </a:extLst>
          </p:cNvPr>
          <p:cNvSpPr/>
          <p:nvPr/>
        </p:nvSpPr>
        <p:spPr>
          <a:xfrm>
            <a:off x="0" y="-18288"/>
            <a:ext cx="12192000" cy="73152"/>
          </a:xfrm>
          <a:prstGeom prst="rect">
            <a:avLst/>
          </a:prstGeom>
          <a:solidFill>
            <a:srgbClr val="CA3C23"/>
          </a:solidFill>
          <a:ln w="12700">
            <a:solidFill>
              <a:srgbClr val="AC2A1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96F8E69-D972-C5FA-105D-A6B2E72A002A}"/>
              </a:ext>
            </a:extLst>
          </p:cNvPr>
          <p:cNvSpPr>
            <a:spLocks noGrp="1"/>
          </p:cNvSpPr>
          <p:nvPr/>
        </p:nvSpPr>
        <p:spPr>
          <a:xfrm>
            <a:off x="1193798" y="4152055"/>
            <a:ext cx="9647864" cy="768350"/>
          </a:xfrm>
          <a:prstGeom prst="rect">
            <a:avLst/>
          </a:prstGeom>
          <a:solidFill>
            <a:srgbClr val="FFFFFF">
              <a:alpha val="5882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57FD19-1236-3A43-8C10-457B164BFDE0}"/>
              </a:ext>
            </a:extLst>
          </p:cNvPr>
          <p:cNvSpPr txBox="1"/>
          <p:nvPr/>
        </p:nvSpPr>
        <p:spPr>
          <a:xfrm>
            <a:off x="1193799" y="4236725"/>
            <a:ext cx="964786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1700" b="0" i="0" u="none" strike="noStrike" dirty="0">
                <a:solidFill>
                  <a:schemeClr val="bg1"/>
                </a:solidFill>
                <a:effectLst/>
                <a:latin typeface="TT Commons Pro" panose="020B0103030102020204" pitchFamily="34" charset="0"/>
                <a:ea typeface="Cambria" panose="02040503050406030204" pitchFamily="18" charset="0"/>
                <a:cs typeface="TT Commons Pro" panose="020B0103030102020204" pitchFamily="34" charset="0"/>
              </a:rPr>
              <a:t>Базовые цвета: фон и текст. Акцентные цвета: кнопки, маркеры, короткие выделения, тонкие линии. Красный используется как основной акцент, янтарный — как теплый поддерживающий свет.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02E355-F8AC-657B-53DE-3B1C2DDB4422}"/>
              </a:ext>
            </a:extLst>
          </p:cNvPr>
          <p:cNvSpPr>
            <a:spLocks noGrp="1"/>
          </p:cNvSpPr>
          <p:nvPr/>
        </p:nvSpPr>
        <p:spPr>
          <a:xfrm>
            <a:off x="806448" y="2241495"/>
            <a:ext cx="2190750" cy="1428750"/>
          </a:xfrm>
          <a:prstGeom prst="rect">
            <a:avLst/>
          </a:prstGeom>
          <a:solidFill>
            <a:srgbClr val="101010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5EAC9C6-1DD9-83E5-DDE1-475CDF3E8FA3}"/>
              </a:ext>
            </a:extLst>
          </p:cNvPr>
          <p:cNvSpPr>
            <a:spLocks noGrp="1"/>
          </p:cNvSpPr>
          <p:nvPr/>
        </p:nvSpPr>
        <p:spPr>
          <a:xfrm>
            <a:off x="1015998" y="3213045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400" b="0" dirty="0">
                <a:solidFill>
                  <a:srgbClr val="FFFFFF"/>
                </a:solidFill>
                <a:latin typeface="TT Commons Pro Trial Light" panose="020B0103030102020204" pitchFamily="34" charset="0"/>
                <a:ea typeface="TT Commons Pro Regular"/>
                <a:cs typeface="TT Commons Pro Trial Light" panose="020B0103030102020204" pitchFamily="34" charset="0"/>
              </a:rPr>
              <a:t>#101010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13648BD-2C6B-013B-631C-ECC8FE0CB4AB}"/>
              </a:ext>
            </a:extLst>
          </p:cNvPr>
          <p:cNvSpPr>
            <a:spLocks noGrp="1"/>
          </p:cNvSpPr>
          <p:nvPr/>
        </p:nvSpPr>
        <p:spPr>
          <a:xfrm>
            <a:off x="3282948" y="2241495"/>
            <a:ext cx="21907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A5E6865-8C7E-D3D4-D5CA-0269B4915CB1}"/>
              </a:ext>
            </a:extLst>
          </p:cNvPr>
          <p:cNvSpPr>
            <a:spLocks noGrp="1"/>
          </p:cNvSpPr>
          <p:nvPr/>
        </p:nvSpPr>
        <p:spPr>
          <a:xfrm>
            <a:off x="3492498" y="3213045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010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400" b="0" dirty="0">
                <a:solidFill>
                  <a:srgbClr val="101010"/>
                </a:solidFill>
                <a:latin typeface="TT Commons Pro Trial Light" panose="020B0103030102020204" pitchFamily="34" charset="0"/>
                <a:ea typeface="TT Commons Pro Regular"/>
                <a:cs typeface="TT Commons Pro Trial Light" panose="020B0103030102020204" pitchFamily="34" charset="0"/>
              </a:rPr>
              <a:t>#FFFFFF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A989908-D7BB-ABD4-E2E7-3460656A25E5}"/>
              </a:ext>
            </a:extLst>
          </p:cNvPr>
          <p:cNvSpPr>
            <a:spLocks noGrp="1"/>
          </p:cNvSpPr>
          <p:nvPr/>
        </p:nvSpPr>
        <p:spPr>
          <a:xfrm>
            <a:off x="6616698" y="2241495"/>
            <a:ext cx="2190750" cy="1428750"/>
          </a:xfrm>
          <a:prstGeom prst="rect">
            <a:avLst/>
          </a:prstGeom>
          <a:solidFill>
            <a:srgbClr val="CB3B25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>
              <a:solidFill>
                <a:srgbClr val="CB3B25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575487C-B533-5591-D503-AA0B0396B054}"/>
              </a:ext>
            </a:extLst>
          </p:cNvPr>
          <p:cNvSpPr>
            <a:spLocks noGrp="1"/>
          </p:cNvSpPr>
          <p:nvPr/>
        </p:nvSpPr>
        <p:spPr>
          <a:xfrm>
            <a:off x="6826248" y="3213045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FFFFF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400" b="0" dirty="0">
                <a:solidFill>
                  <a:srgbClr val="FFFFFF"/>
                </a:solidFill>
                <a:latin typeface="TT Commons Pro Trial Light" panose="020B0103030102020204" pitchFamily="34" charset="0"/>
                <a:ea typeface="TT Commons Pro Regular"/>
                <a:cs typeface="TT Commons Pro Trial Light" panose="020B0103030102020204" pitchFamily="34" charset="0"/>
              </a:rPr>
              <a:t>#CB3B25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B186DEC-D982-4067-AB23-0C4E996D6F2B}"/>
              </a:ext>
            </a:extLst>
          </p:cNvPr>
          <p:cNvSpPr>
            <a:spLocks noGrp="1"/>
          </p:cNvSpPr>
          <p:nvPr/>
        </p:nvSpPr>
        <p:spPr>
          <a:xfrm>
            <a:off x="9093198" y="2241495"/>
            <a:ext cx="2190750" cy="1428750"/>
          </a:xfrm>
          <a:prstGeom prst="rect">
            <a:avLst/>
          </a:prstGeom>
          <a:solidFill>
            <a:srgbClr val="FFA15E"/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5268AB1-1297-704A-DE19-547A85F37CCB}"/>
              </a:ext>
            </a:extLst>
          </p:cNvPr>
          <p:cNvSpPr>
            <a:spLocks noGrp="1"/>
          </p:cNvSpPr>
          <p:nvPr/>
        </p:nvSpPr>
        <p:spPr>
          <a:xfrm>
            <a:off x="9302748" y="3213045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1010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400" b="0" dirty="0">
                <a:solidFill>
                  <a:srgbClr val="101010"/>
                </a:solidFill>
                <a:latin typeface="TT Commons Pro Trial Light" panose="020B0103030102020204" pitchFamily="34" charset="0"/>
                <a:ea typeface="TT Commons Pro Regular"/>
                <a:cs typeface="TT Commons Pro Trial Light" panose="020B0103030102020204" pitchFamily="34" charset="0"/>
              </a:rPr>
              <a:t>#FFA15E</a:t>
            </a: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EDCE4622-6D97-5E9B-B9B1-153748CE515F}"/>
              </a:ext>
            </a:extLst>
          </p:cNvPr>
          <p:cNvSpPr/>
          <p:nvPr/>
        </p:nvSpPr>
        <p:spPr>
          <a:xfrm>
            <a:off x="806449" y="2442523"/>
            <a:ext cx="2190749" cy="288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kern="0" spc="200" dirty="0">
                <a:solidFill>
                  <a:schemeClr val="bg1"/>
                </a:solidFill>
                <a:latin typeface="TT Commons Pro Trial Light" panose="020B0103030102020204" pitchFamily="34" charset="0"/>
                <a:ea typeface="Calibri" pitchFamily="34" charset="-122"/>
                <a:cs typeface="TT Commons Pro Trial Light" panose="020B0103030102020204" pitchFamily="34" charset="0"/>
              </a:rPr>
              <a:t>ГЛУБОКИЙ ЧЕРНЫЙ</a:t>
            </a:r>
            <a:endParaRPr lang="en-US" sz="1400" b="1" dirty="0">
              <a:solidFill>
                <a:schemeClr val="bg1"/>
              </a:solidFill>
              <a:latin typeface="TT Commons Pro Trial Light" panose="020B0103030102020204" pitchFamily="34" charset="0"/>
              <a:cs typeface="TT Commons Pro Trial Light" panose="020B0103030102020204" pitchFamily="34" charset="0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E52751AB-D69F-D8E5-BEEA-AE4A1386D903}"/>
              </a:ext>
            </a:extLst>
          </p:cNvPr>
          <p:cNvSpPr/>
          <p:nvPr/>
        </p:nvSpPr>
        <p:spPr>
          <a:xfrm>
            <a:off x="3282948" y="2442523"/>
            <a:ext cx="2190749" cy="288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kern="0" spc="200" dirty="0">
                <a:latin typeface="TT Commons Pro Trial Light" panose="020B0103030102020204" pitchFamily="34" charset="0"/>
                <a:ea typeface="Calibri" pitchFamily="34" charset="-122"/>
                <a:cs typeface="TT Commons Pro Trial Light" panose="020B0103030102020204" pitchFamily="34" charset="0"/>
              </a:rPr>
              <a:t>БЕЛЫЙ</a:t>
            </a:r>
            <a:endParaRPr lang="en-US" sz="1400" b="1" dirty="0">
              <a:latin typeface="TT Commons Pro Trial Light" panose="020B0103030102020204" pitchFamily="34" charset="0"/>
              <a:cs typeface="TT Commons Pro Trial Light" panose="020B0103030102020204" pitchFamily="34" charset="0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5312F978-4337-BF52-8049-8841B44D9840}"/>
              </a:ext>
            </a:extLst>
          </p:cNvPr>
          <p:cNvSpPr/>
          <p:nvPr/>
        </p:nvSpPr>
        <p:spPr>
          <a:xfrm>
            <a:off x="6616699" y="2442523"/>
            <a:ext cx="2190749" cy="43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kern="0" spc="200" dirty="0">
                <a:solidFill>
                  <a:schemeClr val="bg1"/>
                </a:solidFill>
                <a:latin typeface="TT Commons Pro Trial Light" panose="020B0103030102020204" pitchFamily="34" charset="0"/>
                <a:ea typeface="Calibri" pitchFamily="34" charset="-122"/>
                <a:cs typeface="TT Commons Pro Trial Light" panose="020B0103030102020204" pitchFamily="34" charset="0"/>
              </a:rPr>
              <a:t>КЕРАМИЧЕСКИЙ</a:t>
            </a:r>
          </a:p>
          <a:p>
            <a:pPr marL="0" indent="0" algn="ctr">
              <a:buNone/>
            </a:pPr>
            <a:r>
              <a:rPr lang="ru-RU" sz="1400" b="1" kern="0" spc="200" dirty="0">
                <a:solidFill>
                  <a:schemeClr val="bg1"/>
                </a:solidFill>
                <a:latin typeface="TT Commons Pro Trial Light" panose="020B0103030102020204" pitchFamily="34" charset="0"/>
                <a:ea typeface="Calibri" pitchFamily="34" charset="-122"/>
                <a:cs typeface="TT Commons Pro Trial Light" panose="020B0103030102020204" pitchFamily="34" charset="0"/>
              </a:rPr>
              <a:t>КРАСНЫЙ</a:t>
            </a:r>
            <a:endParaRPr lang="en-US" sz="1400" b="1" dirty="0">
              <a:solidFill>
                <a:schemeClr val="bg1"/>
              </a:solidFill>
              <a:latin typeface="TT Commons Pro Trial Light" panose="020B0103030102020204" pitchFamily="34" charset="0"/>
              <a:cs typeface="TT Commons Pro Trial Light" panose="020B0103030102020204" pitchFamily="34" charset="0"/>
            </a:endParaRPr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59D4298A-3A1C-89A9-F976-64CE4115DC9B}"/>
              </a:ext>
            </a:extLst>
          </p:cNvPr>
          <p:cNvSpPr/>
          <p:nvPr/>
        </p:nvSpPr>
        <p:spPr>
          <a:xfrm>
            <a:off x="9093199" y="2442523"/>
            <a:ext cx="2190749" cy="430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kern="0" spc="200" dirty="0">
                <a:solidFill>
                  <a:schemeClr val="bg1"/>
                </a:solidFill>
                <a:latin typeface="TT Commons Pro Trial Light" panose="020B0103030102020204" pitchFamily="34" charset="0"/>
                <a:ea typeface="Calibri" pitchFamily="34" charset="-122"/>
                <a:cs typeface="TT Commons Pro Trial Light" panose="020B0103030102020204" pitchFamily="34" charset="0"/>
              </a:rPr>
              <a:t>ТЕПЛЫЙ ЯНТАРЬ</a:t>
            </a:r>
            <a:endParaRPr lang="en-US" sz="1400" b="1" dirty="0">
              <a:solidFill>
                <a:schemeClr val="bg1"/>
              </a:solidFill>
              <a:latin typeface="TT Commons Pro Trial Light" panose="020B0103030102020204" pitchFamily="34" charset="0"/>
              <a:cs typeface="TT Commons Pro Trial Light" panose="020B0103030102020204" pitchFamily="34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38AE1172-0851-D925-E1B7-30636EEAD2E8}"/>
              </a:ext>
            </a:extLst>
          </p:cNvPr>
          <p:cNvSpPr/>
          <p:nvPr/>
        </p:nvSpPr>
        <p:spPr>
          <a:xfrm>
            <a:off x="2016123" y="1707913"/>
            <a:ext cx="2190749" cy="288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kern="0" spc="200" dirty="0">
                <a:solidFill>
                  <a:schemeClr val="bg1"/>
                </a:solidFill>
                <a:latin typeface="TT Commons Pro Trial Light" panose="020B0103030102020204" pitchFamily="34" charset="0"/>
                <a:ea typeface="Calibri" pitchFamily="34" charset="-122"/>
                <a:cs typeface="TT Commons Pro Trial Light" panose="020B0103030102020204" pitchFamily="34" charset="0"/>
              </a:rPr>
              <a:t>БАЗОВЫЕ ЦВЕТА</a:t>
            </a:r>
            <a:endParaRPr lang="en-US" sz="1600" b="1" dirty="0">
              <a:solidFill>
                <a:schemeClr val="bg1"/>
              </a:solidFill>
              <a:latin typeface="TT Commons Pro Trial Light" panose="020B0103030102020204" pitchFamily="34" charset="0"/>
              <a:cs typeface="TT Commons Pro Trial Light" panose="020B0103030102020204" pitchFamily="34" charset="0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A46F7CD4-866C-B6B8-255E-FD6BB8E035B3}"/>
              </a:ext>
            </a:extLst>
          </p:cNvPr>
          <p:cNvSpPr/>
          <p:nvPr/>
        </p:nvSpPr>
        <p:spPr>
          <a:xfrm>
            <a:off x="7891990" y="1707913"/>
            <a:ext cx="2190749" cy="288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600" b="1" kern="0" spc="200" dirty="0">
                <a:solidFill>
                  <a:schemeClr val="bg1"/>
                </a:solidFill>
                <a:latin typeface="TT Commons Pro Trial Light" panose="020B0103030102020204" pitchFamily="34" charset="0"/>
                <a:ea typeface="Calibri" pitchFamily="34" charset="-122"/>
                <a:cs typeface="TT Commons Pro Trial Light" panose="020B0103030102020204" pitchFamily="34" charset="0"/>
              </a:rPr>
              <a:t>АКЦЕНТНЫЕ ЦВЕТА</a:t>
            </a:r>
            <a:endParaRPr lang="en-US" sz="1600" b="1" dirty="0">
              <a:solidFill>
                <a:schemeClr val="bg1"/>
              </a:solidFill>
              <a:latin typeface="TT Commons Pro Trial Light" panose="020B0103030102020204" pitchFamily="34" charset="0"/>
              <a:cs typeface="TT Commons Pro Trial Light" panose="020B010303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026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4243-0918-B0C1-0A03-245056FBF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65ACC38-5255-E976-4DDD-AF70645FEA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66D535EF-2C33-C6D3-E1BD-53E560724A7D}"/>
              </a:ext>
            </a:extLst>
          </p:cNvPr>
          <p:cNvSpPr>
            <a:spLocks noGrp="1"/>
          </p:cNvSpPr>
          <p:nvPr/>
        </p:nvSpPr>
        <p:spPr>
          <a:xfrm>
            <a:off x="634998" y="364391"/>
            <a:ext cx="342900" cy="19050"/>
          </a:xfrm>
          <a:prstGeom prst="rect">
            <a:avLst/>
          </a:prstGeom>
          <a:solidFill>
            <a:srgbClr val="CB3B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E1E73155-0A52-3181-0EB0-A767079E570B}"/>
              </a:ext>
            </a:extLst>
          </p:cNvPr>
          <p:cNvSpPr>
            <a:spLocks noGrp="1"/>
          </p:cNvSpPr>
          <p:nvPr/>
        </p:nvSpPr>
        <p:spPr>
          <a:xfrm>
            <a:off x="1111248" y="288191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A15E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lang="ru-RU" sz="1200" b="0" dirty="0">
                <a:solidFill>
                  <a:srgbClr val="FFA15E"/>
                </a:solidFill>
                <a:latin typeface="TT Commons Pro" panose="020B0103030102020204"/>
                <a:ea typeface="TT Commons Pro Regular"/>
                <a:cs typeface="TT Commons Pro Regular"/>
              </a:rPr>
              <a:t>ТИПОГРАФИКА</a:t>
            </a:r>
            <a:endParaRPr sz="1200" b="0" dirty="0">
              <a:solidFill>
                <a:srgbClr val="FFA15E"/>
              </a:solidFill>
              <a:latin typeface="TT Commons Pro" panose="020B0103030102020204"/>
              <a:ea typeface="TT Commons Pro Regular"/>
              <a:cs typeface="TT Commons Pro Regular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A82B3BF-C157-C151-FF29-B405358ECCA2}"/>
              </a:ext>
            </a:extLst>
          </p:cNvPr>
          <p:cNvSpPr>
            <a:spLocks noGrp="1"/>
          </p:cNvSpPr>
          <p:nvPr/>
        </p:nvSpPr>
        <p:spPr>
          <a:xfrm>
            <a:off x="685800" y="6332012"/>
            <a:ext cx="108204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4E6AEAB-12E7-1260-C174-103061EB14AA}"/>
              </a:ext>
            </a:extLst>
          </p:cNvPr>
          <p:cNvSpPr>
            <a:spLocks noGrp="1"/>
          </p:cNvSpPr>
          <p:nvPr/>
        </p:nvSpPr>
        <p:spPr>
          <a:xfrm>
            <a:off x="685800" y="6474887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100" b="0" dirty="0" err="1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CeramicaDecor</a:t>
            </a:r>
            <a:r>
              <a:rPr sz="1100" b="0" dirty="0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 </a:t>
            </a:r>
            <a:r>
              <a:rPr sz="1100" b="0" dirty="0" err="1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brandbook</a:t>
            </a:r>
            <a:endParaRPr sz="1100" b="0" dirty="0">
              <a:solidFill>
                <a:schemeClr val="bg1"/>
              </a:solidFill>
              <a:latin typeface="TT Commons Pro Regular"/>
              <a:ea typeface="TT Commons Pro Regular"/>
              <a:cs typeface="TT Commons Pro Regular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0632387-8F04-896E-9DF3-A8086C153D46}"/>
              </a:ext>
            </a:extLst>
          </p:cNvPr>
          <p:cNvSpPr>
            <a:spLocks noGrp="1"/>
          </p:cNvSpPr>
          <p:nvPr/>
        </p:nvSpPr>
        <p:spPr>
          <a:xfrm>
            <a:off x="11049000" y="6474887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100" b="0" dirty="0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0</a:t>
            </a:r>
            <a:r>
              <a:rPr lang="ru-RU" sz="1100" b="0" dirty="0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4</a:t>
            </a:r>
            <a:endParaRPr sz="1100" b="0" dirty="0">
              <a:solidFill>
                <a:schemeClr val="bg1"/>
              </a:solidFill>
              <a:latin typeface="TT Commons Pro Regular"/>
              <a:ea typeface="TT Commons Pro Regular"/>
              <a:cs typeface="TT Commons Pro Regular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84FBBE00-E8E3-CC20-7952-7167AF4BDD19}"/>
              </a:ext>
            </a:extLst>
          </p:cNvPr>
          <p:cNvSpPr/>
          <p:nvPr/>
        </p:nvSpPr>
        <p:spPr>
          <a:xfrm>
            <a:off x="634998" y="573941"/>
            <a:ext cx="9024408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ru-RU" sz="2600" b="1" dirty="0">
                <a:solidFill>
                  <a:schemeClr val="bg1"/>
                </a:solidFill>
                <a:latin typeface="TT Ramillas Trl Light" panose="020E0000080000020004" pitchFamily="34" charset="0"/>
                <a:ea typeface="Cambria" pitchFamily="34" charset="-122"/>
              </a:rPr>
              <a:t>ШРИФТЫ БРЕНДА</a:t>
            </a:r>
            <a:endParaRPr lang="en-US" sz="2600" dirty="0">
              <a:solidFill>
                <a:schemeClr val="bg1"/>
              </a:solidFill>
              <a:latin typeface="TT Ramillas Trl Light" panose="020E0000080000020004" pitchFamily="34" charset="0"/>
            </a:endParaRP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F933B7B4-8E3B-E6D1-E5F7-34AAB886D76D}"/>
              </a:ext>
            </a:extLst>
          </p:cNvPr>
          <p:cNvSpPr/>
          <p:nvPr/>
        </p:nvSpPr>
        <p:spPr>
          <a:xfrm>
            <a:off x="0" y="-18288"/>
            <a:ext cx="12192000" cy="73152"/>
          </a:xfrm>
          <a:prstGeom prst="rect">
            <a:avLst/>
          </a:prstGeom>
          <a:solidFill>
            <a:srgbClr val="CA3C23"/>
          </a:solidFill>
          <a:ln w="12700">
            <a:solidFill>
              <a:srgbClr val="AC2A14"/>
            </a:solidFill>
            <a:prstDash val="solid"/>
          </a:ln>
        </p:spPr>
        <p:txBody>
          <a:bodyPr/>
          <a:lstStyle/>
          <a:p>
            <a:endParaRPr lang="ru-RU">
              <a:solidFill>
                <a:srgbClr val="CB3B25"/>
              </a:solidFill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80C809D1-FED5-5C0E-6DF3-82F75306D99C}"/>
              </a:ext>
            </a:extLst>
          </p:cNvPr>
          <p:cNvSpPr>
            <a:spLocks noGrp="1"/>
          </p:cNvSpPr>
          <p:nvPr/>
        </p:nvSpPr>
        <p:spPr>
          <a:xfrm>
            <a:off x="5829298" y="1872931"/>
            <a:ext cx="5676902" cy="1270680"/>
          </a:xfrm>
          <a:prstGeom prst="rect">
            <a:avLst/>
          </a:prstGeom>
          <a:solidFill>
            <a:srgbClr val="FFFFFF">
              <a:alpha val="5882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E564F1-F17B-9831-9E29-5309F40595C9}"/>
              </a:ext>
            </a:extLst>
          </p:cNvPr>
          <p:cNvSpPr txBox="1"/>
          <p:nvPr/>
        </p:nvSpPr>
        <p:spPr>
          <a:xfrm>
            <a:off x="5829296" y="1969662"/>
            <a:ext cx="56769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ru-RU" sz="3200" b="0" i="0" u="none" strike="noStrike" dirty="0">
                <a:solidFill>
                  <a:schemeClr val="bg1"/>
                </a:solidFill>
                <a:effectLst/>
                <a:latin typeface="TT Ramillas Trl Light" panose="020E0000080000020004" pitchFamily="34" charset="0"/>
                <a:ea typeface="Cambria" panose="02040503050406030204" pitchFamily="18" charset="0"/>
                <a:cs typeface="TT Commons Pro" panose="020B0103030102020204" pitchFamily="34" charset="0"/>
              </a:rPr>
              <a:t>Современный подход</a:t>
            </a:r>
          </a:p>
          <a:p>
            <a:pPr algn="ctr" rtl="0"/>
            <a:r>
              <a:rPr lang="ru-RU" sz="3200" b="0" i="0" u="none" strike="noStrike" dirty="0">
                <a:solidFill>
                  <a:schemeClr val="bg1"/>
                </a:solidFill>
                <a:effectLst/>
                <a:latin typeface="TT Ramillas Trl Light" panose="020E0000080000020004" pitchFamily="34" charset="0"/>
                <a:ea typeface="Cambria" panose="02040503050406030204" pitchFamily="18" charset="0"/>
                <a:cs typeface="TT Commons Pro" panose="020B0103030102020204" pitchFamily="34" charset="0"/>
              </a:rPr>
              <a:t>к традиционному искусству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26C1DAB-2ACD-6A78-D65B-0443A41E2D06}"/>
              </a:ext>
            </a:extLst>
          </p:cNvPr>
          <p:cNvSpPr>
            <a:spLocks noGrp="1"/>
          </p:cNvSpPr>
          <p:nvPr/>
        </p:nvSpPr>
        <p:spPr>
          <a:xfrm>
            <a:off x="685800" y="2068888"/>
            <a:ext cx="5143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0" b="0">
                <a:solidFill>
                  <a:srgbClr val="FFFFFF"/>
                </a:solidFill>
                <a:latin typeface="TT Ramillas Light"/>
                <a:ea typeface="TT Ramillas Light"/>
                <a:cs typeface="TT Ramillas Light"/>
              </a:defRPr>
            </a:pPr>
            <a:r>
              <a:rPr sz="3200" b="0" dirty="0">
                <a:solidFill>
                  <a:schemeClr val="bg1"/>
                </a:solidFill>
                <a:latin typeface="TT Ramillas Trl Light" panose="020E0000080000020004" pitchFamily="34" charset="0"/>
                <a:ea typeface="TT Ramillas Light"/>
                <a:cs typeface="TT Ramillas Light"/>
              </a:rPr>
              <a:t>TT </a:t>
            </a:r>
            <a:r>
              <a:rPr sz="3200" b="0" dirty="0" err="1">
                <a:solidFill>
                  <a:schemeClr val="bg1"/>
                </a:solidFill>
                <a:latin typeface="TT Ramillas Trl Light" panose="020E0000080000020004" pitchFamily="34" charset="0"/>
                <a:ea typeface="TT Ramillas Light"/>
                <a:cs typeface="TT Ramillas Light"/>
              </a:rPr>
              <a:t>Ramillas</a:t>
            </a:r>
            <a:r>
              <a:rPr sz="3200" b="0" dirty="0">
                <a:solidFill>
                  <a:schemeClr val="bg1"/>
                </a:solidFill>
                <a:latin typeface="TT Ramillas Trl Light" panose="020E0000080000020004" pitchFamily="34" charset="0"/>
                <a:ea typeface="TT Ramillas Light"/>
                <a:cs typeface="TT Ramillas Light"/>
              </a:rPr>
              <a:t> Light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DEA8B5B-6B8D-FE8B-BB5B-1A1D43CACB11}"/>
              </a:ext>
            </a:extLst>
          </p:cNvPr>
          <p:cNvSpPr>
            <a:spLocks noGrp="1"/>
          </p:cNvSpPr>
          <p:nvPr/>
        </p:nvSpPr>
        <p:spPr>
          <a:xfrm>
            <a:off x="685800" y="3903400"/>
            <a:ext cx="5143500" cy="38862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FFFFF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2400" b="0" dirty="0">
                <a:solidFill>
                  <a:schemeClr val="bg1"/>
                </a:solidFill>
                <a:latin typeface="TT Commons Pro Regular"/>
                <a:ea typeface="TT Commons Pro Regular"/>
                <a:cs typeface="TT Commons Pro Regular"/>
              </a:rPr>
              <a:t>TT Commons Pro Regular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D35C9FA-A93D-7C44-F483-A8AA07497677}"/>
              </a:ext>
            </a:extLst>
          </p:cNvPr>
          <p:cNvSpPr>
            <a:spLocks noGrp="1"/>
          </p:cNvSpPr>
          <p:nvPr/>
        </p:nvSpPr>
        <p:spPr>
          <a:xfrm>
            <a:off x="5829298" y="3809569"/>
            <a:ext cx="5676902" cy="964347"/>
          </a:xfrm>
          <a:prstGeom prst="rect">
            <a:avLst/>
          </a:prstGeom>
          <a:solidFill>
            <a:srgbClr val="FFFFFF">
              <a:alpha val="5882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0649F2-B9F7-5267-38C1-E82C51E3DF5C}"/>
              </a:ext>
            </a:extLst>
          </p:cNvPr>
          <p:cNvSpPr txBox="1"/>
          <p:nvPr/>
        </p:nvSpPr>
        <p:spPr>
          <a:xfrm>
            <a:off x="5829296" y="3876243"/>
            <a:ext cx="56769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ru-RU" sz="2400" b="0" i="0" u="none" strike="noStrike" dirty="0">
                <a:solidFill>
                  <a:schemeClr val="bg1"/>
                </a:solidFill>
                <a:effectLst/>
                <a:latin typeface="TT Commons Pro Regular"/>
                <a:ea typeface="Cambria" panose="02040503050406030204" pitchFamily="18" charset="0"/>
                <a:cs typeface="TT Commons Pro" panose="020B0103030102020204" pitchFamily="34" charset="0"/>
              </a:rPr>
              <a:t>Современный подход</a:t>
            </a:r>
          </a:p>
          <a:p>
            <a:pPr algn="ctr" rtl="0"/>
            <a:r>
              <a:rPr lang="ru-RU" sz="2400" b="0" i="0" u="none" strike="noStrike" dirty="0">
                <a:solidFill>
                  <a:schemeClr val="bg1"/>
                </a:solidFill>
                <a:effectLst/>
                <a:latin typeface="TT Commons Pro Regular"/>
                <a:ea typeface="Cambria" panose="02040503050406030204" pitchFamily="18" charset="0"/>
                <a:cs typeface="TT Commons Pro" panose="020B0103030102020204" pitchFamily="34" charset="0"/>
              </a:rPr>
              <a:t>к традиционному искусству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79F205-EDC0-B994-8876-757AC017DF3D}"/>
              </a:ext>
            </a:extLst>
          </p:cNvPr>
          <p:cNvSpPr txBox="1"/>
          <p:nvPr/>
        </p:nvSpPr>
        <p:spPr>
          <a:xfrm>
            <a:off x="634998" y="2668931"/>
            <a:ext cx="492840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1700" b="0" i="0" u="none" strike="noStrike" dirty="0">
                <a:solidFill>
                  <a:schemeClr val="bg1"/>
                </a:solidFill>
                <a:effectLst/>
                <a:latin typeface="TT Commons Pro" panose="020B0103030102020204" pitchFamily="34" charset="0"/>
                <a:ea typeface="Cambria" panose="02040503050406030204" pitchFamily="18" charset="0"/>
                <a:cs typeface="TT Commons Pro" panose="020B0103030102020204" pitchFamily="34" charset="0"/>
              </a:rPr>
              <a:t>Заголовки, обложки, крупные смысловые акценты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84D131-0943-6EFA-8A6F-223F203F7CA5}"/>
              </a:ext>
            </a:extLst>
          </p:cNvPr>
          <p:cNvSpPr txBox="1"/>
          <p:nvPr/>
        </p:nvSpPr>
        <p:spPr>
          <a:xfrm>
            <a:off x="634998" y="4471596"/>
            <a:ext cx="492840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ru-RU" sz="1700" b="0" i="0" u="none" strike="noStrike" dirty="0">
                <a:solidFill>
                  <a:schemeClr val="bg1"/>
                </a:solidFill>
                <a:effectLst/>
                <a:latin typeface="TT Commons Pro" panose="020B0103030102020204" pitchFamily="34" charset="0"/>
                <a:ea typeface="Cambria" panose="02040503050406030204" pitchFamily="18" charset="0"/>
                <a:cs typeface="TT Commons Pro" panose="020B0103030102020204" pitchFamily="34" charset="0"/>
              </a:rPr>
              <a:t>Основной текст, подписи, навигация, кнопки</a:t>
            </a:r>
          </a:p>
          <a:p>
            <a:pPr rtl="0"/>
            <a:r>
              <a:rPr lang="ru-RU" sz="1700" b="0" i="0" u="none" strike="noStrike" dirty="0">
                <a:solidFill>
                  <a:schemeClr val="bg1"/>
                </a:solidFill>
                <a:effectLst/>
                <a:latin typeface="TT Commons Pro" panose="020B0103030102020204" pitchFamily="34" charset="0"/>
                <a:ea typeface="Cambria" panose="02040503050406030204" pitchFamily="18" charset="0"/>
                <a:cs typeface="TT Commons Pro" panose="020B0103030102020204" pitchFamily="34" charset="0"/>
              </a:rPr>
              <a:t>и технические пояснения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CB35BDE-D30C-14A4-62B0-C0ED2A5C6542}"/>
              </a:ext>
            </a:extLst>
          </p:cNvPr>
          <p:cNvSpPr>
            <a:spLocks noGrp="1"/>
          </p:cNvSpPr>
          <p:nvPr/>
        </p:nvSpPr>
        <p:spPr>
          <a:xfrm>
            <a:off x="685800" y="3461488"/>
            <a:ext cx="47625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754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5EA5723-F338-46EE-839D-9CA865FA4B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rcRect t="2457" b="2457"/>
          <a:stretch>
            <a:fillRect/>
          </a:stretch>
        </p:blipFill>
        <p:spPr>
          <a:xfrm>
            <a:off x="685800" y="2571750"/>
            <a:ext cx="3333750" cy="24765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rcRect l="5106" r="5106"/>
          <a:stretch>
            <a:fillRect/>
          </a:stretch>
        </p:blipFill>
        <p:spPr>
          <a:xfrm>
            <a:off x="4400550" y="2571750"/>
            <a:ext cx="3333750" cy="24765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rcRect l="5128" r="5128"/>
          <a:stretch>
            <a:fillRect/>
          </a:stretch>
        </p:blipFill>
        <p:spPr>
          <a:xfrm>
            <a:off x="8115300" y="2571750"/>
            <a:ext cx="3333750" cy="24765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F3227CA-0304-41B4-AA3D-02BF91CCE78B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933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575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Использовать: реальные интерьеры, крупные детали глазури, огонь, дерево, рельеф. Избегать: холодных стоков, пересвета, случайных декоративных фонов и мелких фото, где изделие невозможно рассмотреть.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9B5FF2D-7387-49C6-A9AA-0326F2EF708B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8204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4478FE0-3BDA-4122-8DB3-CC265BC5838A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CeramicaDecor brandbook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48C370B-9C32-4AFC-8978-9918FA925B5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06</a:t>
            </a:r>
          </a:p>
        </p:txBody>
      </p:sp>
      <p:sp>
        <p:nvSpPr>
          <p:cNvPr id="13" name="kicker-marker">
            <a:extLst>
              <a:ext uri="{FF2B5EF4-FFF2-40B4-BE49-F238E27FC236}">
                <a16:creationId xmlns:a16="http://schemas.microsoft.com/office/drawing/2014/main" id="{89347967-83D6-D634-7B0A-7189D6846CD8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42900" cy="19050"/>
          </a:xfrm>
          <a:prstGeom prst="rect">
            <a:avLst/>
          </a:prstGeom>
          <a:solidFill>
            <a:srgbClr val="CB3B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kicker-label">
            <a:extLst>
              <a:ext uri="{FF2B5EF4-FFF2-40B4-BE49-F238E27FC236}">
                <a16:creationId xmlns:a16="http://schemas.microsoft.com/office/drawing/2014/main" id="{48F25F6A-AC8B-0D19-B391-74FE094F0B12}"/>
              </a:ext>
            </a:extLst>
          </p:cNvPr>
          <p:cNvSpPr>
            <a:spLocks noGrp="1"/>
          </p:cNvSpPr>
          <p:nvPr/>
        </p:nvSpPr>
        <p:spPr>
          <a:xfrm>
            <a:off x="1162050" y="5334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A15E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lang="ru-RU" sz="1200" b="0" dirty="0">
                <a:solidFill>
                  <a:srgbClr val="FFA15E"/>
                </a:solidFill>
                <a:latin typeface="TT Commons Pro" panose="020B0103030102020204"/>
                <a:ea typeface="TT Commons Pro Regular"/>
                <a:cs typeface="TT Commons Pro Regular"/>
              </a:rPr>
              <a:t>ФОТОГРАФИИ</a:t>
            </a:r>
            <a:endParaRPr sz="1200" b="0" dirty="0">
              <a:solidFill>
                <a:srgbClr val="FFA15E"/>
              </a:solidFill>
              <a:latin typeface="TT Commons Pro" panose="020B0103030102020204"/>
              <a:ea typeface="TT Commons Pro Regular"/>
              <a:cs typeface="TT Commons Pro Regular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A18530C-DAE4-7628-E5E4-E2D15B7D6225}"/>
              </a:ext>
            </a:extLst>
          </p:cNvPr>
          <p:cNvSpPr/>
          <p:nvPr/>
        </p:nvSpPr>
        <p:spPr>
          <a:xfrm>
            <a:off x="685800" y="819150"/>
            <a:ext cx="9024408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ru-RU" sz="2600" b="1" dirty="0">
                <a:solidFill>
                  <a:srgbClr val="DCD5C8"/>
                </a:solidFill>
                <a:latin typeface="TT Ramillas Trl Light" panose="020E0000080000020004" pitchFamily="34" charset="0"/>
                <a:ea typeface="Cambria" pitchFamily="34" charset="-122"/>
              </a:rPr>
              <a:t>МАТЕРИАЛ, МАСШТАБ, ТЕПЛЫЙ СВЕТ</a:t>
            </a:r>
            <a:endParaRPr lang="en-US" sz="2600" dirty="0">
              <a:solidFill>
                <a:srgbClr val="DCD5C8"/>
              </a:solidFill>
              <a:latin typeface="TT Ramillas Trl Light" panose="020E000008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398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0A69FA6-8E68-4AA9-9F93-CAFC189A9D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420345D-2297-48B0-815E-27B7150CB999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72390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93711C9-FA4E-4765-B86A-C795CBC38EAF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FFFFFF"/>
                </a:solidFill>
                <a:latin typeface="TT Ramillas Light"/>
                <a:ea typeface="TT Ramillas Light"/>
                <a:cs typeface="TT Ramillas Light"/>
              </a:defRPr>
            </a:pPr>
            <a:r>
              <a:rPr sz="1950" b="0">
                <a:solidFill>
                  <a:srgbClr val="FFFFFF"/>
                </a:solidFill>
                <a:latin typeface="TT Ramillas Light"/>
                <a:ea typeface="TT Ramillas Light"/>
                <a:cs typeface="TT Ramillas Light"/>
              </a:rPr>
              <a:t>Фон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F7835E0-07E5-468C-9308-DFD98FFA2419}"/>
              </a:ext>
            </a:extLst>
          </p:cNvPr>
          <p:cNvSpPr>
            <a:spLocks noGrp="1"/>
          </p:cNvSpPr>
          <p:nvPr/>
        </p:nvSpPr>
        <p:spPr>
          <a:xfrm>
            <a:off x="2857500" y="2771775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575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черный или затемненное фото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D1ED56C-B7DB-49C2-8F18-B86A14DE70E6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72390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345BF80-00BF-454A-9E34-8D1B0CDEB106}"/>
              </a:ext>
            </a:extLst>
          </p:cNvPr>
          <p:cNvSpPr>
            <a:spLocks noGrp="1"/>
          </p:cNvSpPr>
          <p:nvPr/>
        </p:nvSpPr>
        <p:spPr>
          <a:xfrm>
            <a:off x="685800" y="34861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FFFFFF"/>
                </a:solidFill>
                <a:latin typeface="TT Ramillas Light"/>
                <a:ea typeface="TT Ramillas Light"/>
                <a:cs typeface="TT Ramillas Light"/>
              </a:defRPr>
            </a:pPr>
            <a:r>
              <a:rPr sz="1950" b="0">
                <a:solidFill>
                  <a:srgbClr val="FFFFFF"/>
                </a:solidFill>
                <a:latin typeface="TT Ramillas Light"/>
                <a:ea typeface="TT Ramillas Light"/>
                <a:cs typeface="TT Ramillas Light"/>
              </a:rPr>
              <a:t>Акцент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176689E-E68C-4B55-9D25-8E2F71603EAB}"/>
              </a:ext>
            </a:extLst>
          </p:cNvPr>
          <p:cNvSpPr>
            <a:spLocks noGrp="1"/>
          </p:cNvSpPr>
          <p:nvPr/>
        </p:nvSpPr>
        <p:spPr>
          <a:xfrm>
            <a:off x="2857500" y="3495675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575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красный маркер, кнопка или короткая линия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CAE4D96-2063-4C75-B9EB-B3DD23AA0627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72390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7906F11-3706-4525-8E9C-62531549EE35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FFFFFF"/>
                </a:solidFill>
                <a:latin typeface="TT Ramillas Light"/>
                <a:ea typeface="TT Ramillas Light"/>
                <a:cs typeface="TT Ramillas Light"/>
              </a:defRPr>
            </a:pPr>
            <a:r>
              <a:rPr sz="1950" b="0">
                <a:solidFill>
                  <a:srgbClr val="FFFFFF"/>
                </a:solidFill>
                <a:latin typeface="TT Ramillas Light"/>
                <a:ea typeface="TT Ramillas Light"/>
                <a:cs typeface="TT Ramillas Light"/>
              </a:rPr>
              <a:t>Ритм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94F296-F965-497C-AC53-9762690094B5}"/>
              </a:ext>
            </a:extLst>
          </p:cNvPr>
          <p:cNvSpPr>
            <a:spLocks noGrp="1"/>
          </p:cNvSpPr>
          <p:nvPr/>
        </p:nvSpPr>
        <p:spPr>
          <a:xfrm>
            <a:off x="2857500" y="4219575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575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крупный заголовок, много воздуха, один главный визуальный объект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3BFD666-BC23-4554-B1E3-B2A62212C90D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72390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7494FAC-B67B-41D3-877C-55AA193E4632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0">
                <a:solidFill>
                  <a:srgbClr val="FFFFFF"/>
                </a:solidFill>
                <a:latin typeface="TT Ramillas Light"/>
                <a:ea typeface="TT Ramillas Light"/>
                <a:cs typeface="TT Ramillas Light"/>
              </a:defRPr>
            </a:pPr>
            <a:r>
              <a:rPr sz="1950" b="0">
                <a:solidFill>
                  <a:srgbClr val="FFFFFF"/>
                </a:solidFill>
                <a:latin typeface="TT Ramillas Light"/>
                <a:ea typeface="TT Ramillas Light"/>
                <a:cs typeface="TT Ramillas Light"/>
              </a:rPr>
              <a:t>Форма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BB8380C-563F-4AE2-B1E9-6CE22D2CA4E9}"/>
              </a:ext>
            </a:extLst>
          </p:cNvPr>
          <p:cNvSpPr>
            <a:spLocks noGrp="1"/>
          </p:cNvSpPr>
          <p:nvPr/>
        </p:nvSpPr>
        <p:spPr>
          <a:xfrm>
            <a:off x="2857500" y="4943475"/>
            <a:ext cx="533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575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простые прямоугольники, тонкие разделители, без лишнего декора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972AFC0-6A59-420F-AA67-863CB0E599C2}"/>
              </a:ext>
            </a:extLst>
          </p:cNvPr>
          <p:cNvSpPr>
            <a:spLocks noGrp="1"/>
          </p:cNvSpPr>
          <p:nvPr/>
        </p:nvSpPr>
        <p:spPr>
          <a:xfrm>
            <a:off x="8763000" y="2476500"/>
            <a:ext cx="1143000" cy="1143000"/>
          </a:xfrm>
          <a:prstGeom prst="rect">
            <a:avLst/>
          </a:prstGeom>
          <a:solidFill>
            <a:srgbClr val="CB3B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6D5B35A-85CC-4B32-928E-EDF07073A074}"/>
              </a:ext>
            </a:extLst>
          </p:cNvPr>
          <p:cNvSpPr>
            <a:spLocks noGrp="1"/>
          </p:cNvSpPr>
          <p:nvPr/>
        </p:nvSpPr>
        <p:spPr>
          <a:xfrm>
            <a:off x="9315450" y="3238500"/>
            <a:ext cx="1143000" cy="1143000"/>
          </a:xfrm>
          <a:prstGeom prst="rect">
            <a:avLst/>
          </a:prstGeom>
          <a:solidFill>
            <a:srgbClr val="FFA1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9034988-E76E-463A-9430-7B5A59F0A23C}"/>
              </a:ext>
            </a:extLst>
          </p:cNvPr>
          <p:cNvSpPr>
            <a:spLocks noGrp="1"/>
          </p:cNvSpPr>
          <p:nvPr/>
        </p:nvSpPr>
        <p:spPr>
          <a:xfrm>
            <a:off x="8858250" y="4514850"/>
            <a:ext cx="238125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C6F72FD-1B46-423B-8FF4-504DCD399BEC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23812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500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Акцент — не украшение, а навигация взгляда.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FEA6C04-999E-4B84-B366-834ACDBCCC4A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8204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1C0ABBB-41FB-4AA9-A846-36BCCBE8A8A4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CeramicaDecor brandbook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CE5CA5C-8C0C-4027-93FB-07529538222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07</a:t>
            </a:r>
          </a:p>
        </p:txBody>
      </p:sp>
      <p:sp>
        <p:nvSpPr>
          <p:cNvPr id="25" name="kicker-marker">
            <a:extLst>
              <a:ext uri="{FF2B5EF4-FFF2-40B4-BE49-F238E27FC236}">
                <a16:creationId xmlns:a16="http://schemas.microsoft.com/office/drawing/2014/main" id="{14E80C1A-93AA-4AF2-5ADA-79EFE53D9B1F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42900" cy="19050"/>
          </a:xfrm>
          <a:prstGeom prst="rect">
            <a:avLst/>
          </a:prstGeom>
          <a:solidFill>
            <a:srgbClr val="CB3B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kicker-label">
            <a:extLst>
              <a:ext uri="{FF2B5EF4-FFF2-40B4-BE49-F238E27FC236}">
                <a16:creationId xmlns:a16="http://schemas.microsoft.com/office/drawing/2014/main" id="{44ABAAFC-38C1-F032-32C3-D4EEDC12117C}"/>
              </a:ext>
            </a:extLst>
          </p:cNvPr>
          <p:cNvSpPr>
            <a:spLocks noGrp="1"/>
          </p:cNvSpPr>
          <p:nvPr/>
        </p:nvSpPr>
        <p:spPr>
          <a:xfrm>
            <a:off x="1162050" y="5334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A15E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lang="ru-RU" sz="1200" b="0" dirty="0">
                <a:solidFill>
                  <a:srgbClr val="FFA15E"/>
                </a:solidFill>
                <a:latin typeface="TT Commons Pro" panose="020B0103030102020204"/>
                <a:ea typeface="TT Commons Pro Regular"/>
                <a:cs typeface="TT Commons Pro Regular"/>
              </a:rPr>
              <a:t>ГРАФИКА</a:t>
            </a:r>
            <a:endParaRPr sz="1200" b="0" dirty="0">
              <a:solidFill>
                <a:srgbClr val="FFA15E"/>
              </a:solidFill>
              <a:latin typeface="TT Commons Pro" panose="020B0103030102020204"/>
              <a:ea typeface="TT Commons Pro Regular"/>
              <a:cs typeface="TT Commons Pro Regular"/>
            </a:endParaRP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B617DB86-C87D-2096-9607-38C1DF286539}"/>
              </a:ext>
            </a:extLst>
          </p:cNvPr>
          <p:cNvSpPr/>
          <p:nvPr/>
        </p:nvSpPr>
        <p:spPr>
          <a:xfrm>
            <a:off x="685800" y="819150"/>
            <a:ext cx="9024408" cy="400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ru-RU" sz="2600" b="1" dirty="0">
                <a:solidFill>
                  <a:srgbClr val="DCD5C8"/>
                </a:solidFill>
                <a:latin typeface="TT Ramillas Trl Light" panose="020E0000080000020004" pitchFamily="34" charset="0"/>
                <a:ea typeface="Cambria" pitchFamily="34" charset="-122"/>
              </a:rPr>
              <a:t>ТОЧНЫЕ АКЦЕНТЫ, ЛАКОНИЧНЫЕ ФОРМЫ</a:t>
            </a:r>
            <a:endParaRPr lang="en-US" sz="2600" dirty="0">
              <a:solidFill>
                <a:srgbClr val="DCD5C8"/>
              </a:solidFill>
              <a:latin typeface="TT Ramillas Trl Light" panose="020E000008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342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F957E7A-14EB-4A48-B439-788BCB9ECC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0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44B6C3-1557-420B-9F66-32AD228BB37B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2952750" cy="1809750"/>
          </a:xfrm>
          <a:prstGeom prst="rect">
            <a:avLst/>
          </a:prstGeom>
          <a:solidFill>
            <a:srgbClr val="FFFFFF">
              <a:alpha val="5882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849940D-5950-444D-809C-30FA2B0AE73E}"/>
              </a:ext>
            </a:extLst>
          </p:cNvPr>
          <p:cNvSpPr>
            <a:spLocks noGrp="1"/>
          </p:cNvSpPr>
          <p:nvPr/>
        </p:nvSpPr>
        <p:spPr>
          <a:xfrm>
            <a:off x="933450" y="31432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FFA15E"/>
                </a:solidFill>
                <a:latin typeface="TT Ramillas Light"/>
                <a:ea typeface="TT Ramillas Light"/>
                <a:cs typeface="TT Ramillas Light"/>
              </a:defRPr>
            </a:pPr>
            <a:r>
              <a:rPr sz="2325" b="0">
                <a:solidFill>
                  <a:srgbClr val="FFA15E"/>
                </a:solidFill>
                <a:latin typeface="TT Ramillas Light"/>
                <a:ea typeface="TT Ramillas Light"/>
                <a:cs typeface="TT Ramillas Light"/>
              </a:rPr>
              <a:t>PDF-презентация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8F56C06-33F6-49BE-BCF6-FDACFF1C30E5}"/>
              </a:ext>
            </a:extLst>
          </p:cNvPr>
          <p:cNvSpPr>
            <a:spLocks noGrp="1"/>
          </p:cNvSpPr>
          <p:nvPr/>
        </p:nvSpPr>
        <p:spPr>
          <a:xfrm>
            <a:off x="952500" y="3790950"/>
            <a:ext cx="219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500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Темная обложка, один сильный кадр, короткие заголовки.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093E5C0-1DBB-4A43-8204-5B5DCE1A15FF}"/>
              </a:ext>
            </a:extLst>
          </p:cNvPr>
          <p:cNvSpPr>
            <a:spLocks noGrp="1"/>
          </p:cNvSpPr>
          <p:nvPr/>
        </p:nvSpPr>
        <p:spPr>
          <a:xfrm>
            <a:off x="4133850" y="2857500"/>
            <a:ext cx="2952750" cy="1809750"/>
          </a:xfrm>
          <a:prstGeom prst="rect">
            <a:avLst/>
          </a:prstGeom>
          <a:solidFill>
            <a:srgbClr val="FFFFFF">
              <a:alpha val="5882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98868AC-609C-4428-BB68-02B5391041BF}"/>
              </a:ext>
            </a:extLst>
          </p:cNvPr>
          <p:cNvSpPr>
            <a:spLocks noGrp="1"/>
          </p:cNvSpPr>
          <p:nvPr/>
        </p:nvSpPr>
        <p:spPr>
          <a:xfrm>
            <a:off x="4381500" y="31432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FFA15E"/>
                </a:solidFill>
                <a:latin typeface="TT Ramillas Light"/>
                <a:ea typeface="TT Ramillas Light"/>
                <a:cs typeface="TT Ramillas Light"/>
              </a:defRPr>
            </a:pPr>
            <a:r>
              <a:rPr sz="2325" b="0">
                <a:solidFill>
                  <a:srgbClr val="FFA15E"/>
                </a:solidFill>
                <a:latin typeface="TT Ramillas Light"/>
                <a:ea typeface="TT Ramillas Light"/>
                <a:cs typeface="TT Ramillas Light"/>
              </a:rPr>
              <a:t>Пост или баннер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944C9E3-9044-49A0-AA03-E987C2FF5498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219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500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Крупное изделие, красный CTA, минимум поясняющего текста.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05E4D67-D6AB-4FE7-8141-B0A6063E10AF}"/>
              </a:ext>
            </a:extLst>
          </p:cNvPr>
          <p:cNvSpPr>
            <a:spLocks noGrp="1"/>
          </p:cNvSpPr>
          <p:nvPr/>
        </p:nvSpPr>
        <p:spPr>
          <a:xfrm>
            <a:off x="7581900" y="2857500"/>
            <a:ext cx="2952750" cy="1809750"/>
          </a:xfrm>
          <a:prstGeom prst="rect">
            <a:avLst/>
          </a:prstGeom>
          <a:solidFill>
            <a:srgbClr val="FFFFFF">
              <a:alpha val="5882"/>
            </a:srgbClr>
          </a:solidFill>
          <a:ln w="9525">
            <a:solidFill>
              <a:srgbClr val="FFFFFF">
                <a:alpha val="13333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BB8129A-DE8A-4298-92CC-2E40266ACD9F}"/>
              </a:ext>
            </a:extLst>
          </p:cNvPr>
          <p:cNvSpPr>
            <a:spLocks noGrp="1"/>
          </p:cNvSpPr>
          <p:nvPr/>
        </p:nvSpPr>
        <p:spPr>
          <a:xfrm>
            <a:off x="7829550" y="31432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0">
                <a:solidFill>
                  <a:srgbClr val="FFA15E"/>
                </a:solidFill>
                <a:latin typeface="TT Ramillas Light"/>
                <a:ea typeface="TT Ramillas Light"/>
                <a:cs typeface="TT Ramillas Light"/>
              </a:defRPr>
            </a:pPr>
            <a:r>
              <a:rPr sz="2325" b="0">
                <a:solidFill>
                  <a:srgbClr val="FFA15E"/>
                </a:solidFill>
                <a:latin typeface="TT Ramillas Light"/>
                <a:ea typeface="TT Ramillas Light"/>
                <a:cs typeface="TT Ramillas Light"/>
              </a:rPr>
              <a:t>Каталог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99C0D99-DC7B-41AA-8D6A-AD7D5029E432}"/>
              </a:ext>
            </a:extLst>
          </p:cNvPr>
          <p:cNvSpPr>
            <a:spLocks noGrp="1"/>
          </p:cNvSpPr>
          <p:nvPr/>
        </p:nvSpPr>
        <p:spPr>
          <a:xfrm>
            <a:off x="7848600" y="3790950"/>
            <a:ext cx="219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500" b="0">
                <a:solidFill>
                  <a:srgbClr val="FFFFFF">
                    <a:alpha val="60000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Фото важнее рамок. Цвета и шрифты работают как система.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54505A3-40F5-4FEF-9F77-4E3554F9E5E0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FFFFF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1650" b="0">
                <a:solidFill>
                  <a:srgbClr val="FFFFFF"/>
                </a:solidFill>
                <a:latin typeface="TT Commons Pro Regular"/>
                <a:ea typeface="TT Commons Pro Regular"/>
                <a:cs typeface="TT Commons Pro Regular"/>
              </a:rPr>
              <a:t>Итоговый принцип: CeramicaDecor выглядит дорого за счет реального материала, темного фона, теплого света и сдержанной типографики.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1C9D8A7-E199-41A5-9EC0-595E29D96E83}"/>
              </a:ext>
            </a:extLst>
          </p:cNvPr>
          <p:cNvSpPr>
            <a:spLocks noGrp="1"/>
          </p:cNvSpPr>
          <p:nvPr/>
        </p:nvSpPr>
        <p:spPr>
          <a:xfrm>
            <a:off x="685800" y="6238875"/>
            <a:ext cx="10820400" cy="9525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042657B-3051-4F20-8A8F-162E013D41F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CeramicaDecor brandbook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3ACA194-027E-4541-AAF3-B8B6BDBCB61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sz="975" b="0">
                <a:solidFill>
                  <a:srgbClr val="FFFFFF">
                    <a:alpha val="33333"/>
                  </a:srgbClr>
                </a:solidFill>
                <a:latin typeface="TT Commons Pro Regular"/>
                <a:ea typeface="TT Commons Pro Regular"/>
                <a:cs typeface="TT Commons Pro Regular"/>
              </a:rPr>
              <a:t>08</a:t>
            </a:r>
          </a:p>
        </p:txBody>
      </p:sp>
      <p:sp>
        <p:nvSpPr>
          <p:cNvPr id="20" name="kicker-marker">
            <a:extLst>
              <a:ext uri="{FF2B5EF4-FFF2-40B4-BE49-F238E27FC236}">
                <a16:creationId xmlns:a16="http://schemas.microsoft.com/office/drawing/2014/main" id="{9199D21C-FDED-D140-AC66-8A7C9668FC9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342900" cy="19050"/>
          </a:xfrm>
          <a:prstGeom prst="rect">
            <a:avLst/>
          </a:prstGeom>
          <a:solidFill>
            <a:srgbClr val="CB3B2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kicker-label">
            <a:extLst>
              <a:ext uri="{FF2B5EF4-FFF2-40B4-BE49-F238E27FC236}">
                <a16:creationId xmlns:a16="http://schemas.microsoft.com/office/drawing/2014/main" id="{CC3C5A75-A447-0CC6-2D0B-02DC4DFEB8A2}"/>
              </a:ext>
            </a:extLst>
          </p:cNvPr>
          <p:cNvSpPr>
            <a:spLocks noGrp="1"/>
          </p:cNvSpPr>
          <p:nvPr/>
        </p:nvSpPr>
        <p:spPr>
          <a:xfrm>
            <a:off x="1162050" y="533400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FFA15E"/>
                </a:solidFill>
                <a:latin typeface="TT Commons Pro Regular"/>
                <a:ea typeface="TT Commons Pro Regular"/>
                <a:cs typeface="TT Commons Pro Regular"/>
              </a:defRPr>
            </a:pPr>
            <a:r>
              <a:rPr lang="ru-RU" sz="1200" b="0" dirty="0">
                <a:solidFill>
                  <a:srgbClr val="FFA15E"/>
                </a:solidFill>
                <a:latin typeface="TT Commons Pro" panose="020B0103030102020204"/>
                <a:ea typeface="TT Commons Pro Regular"/>
                <a:cs typeface="TT Commons Pro Regular"/>
              </a:rPr>
              <a:t>ПРИМЕНЕНИЕ</a:t>
            </a:r>
            <a:endParaRPr sz="1200" b="0" dirty="0">
              <a:solidFill>
                <a:srgbClr val="FFA15E"/>
              </a:solidFill>
              <a:latin typeface="TT Commons Pro" panose="020B0103030102020204"/>
              <a:ea typeface="TT Commons Pro Regular"/>
              <a:cs typeface="TT Commons Pro Regular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95659E87-4BB9-62F5-3A8C-DCFFB11C51CB}"/>
              </a:ext>
            </a:extLst>
          </p:cNvPr>
          <p:cNvSpPr/>
          <p:nvPr/>
        </p:nvSpPr>
        <p:spPr>
          <a:xfrm>
            <a:off x="685800" y="819150"/>
            <a:ext cx="9024408" cy="800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ru-RU" sz="2600" b="1" dirty="0">
                <a:solidFill>
                  <a:srgbClr val="DCD5C8"/>
                </a:solidFill>
                <a:latin typeface="TT Ramillas Trl Light" panose="020E0000080000020004" pitchFamily="34" charset="0"/>
                <a:ea typeface="Cambria" pitchFamily="34" charset="-122"/>
              </a:rPr>
              <a:t>ЕДИНЫЙ СТИЛЬ ДЛЯ ДЕМОНСТРАЦИОННЫХ И ВНУТРЕННИХ МАТЕРИАЛОВ</a:t>
            </a:r>
            <a:endParaRPr lang="en-US" sz="2600" dirty="0">
              <a:solidFill>
                <a:srgbClr val="DCD5C8"/>
              </a:solidFill>
              <a:latin typeface="TT Ramillas Trl Light" panose="020E000008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1835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375</Words>
  <Application>Microsoft Office PowerPoint</Application>
  <DocSecurity>0</DocSecurity>
  <PresentationFormat>Широкоэкранный</PresentationFormat>
  <Paragraphs>72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Calibri</vt:lpstr>
      <vt:lpstr>TT Commons Pro</vt:lpstr>
      <vt:lpstr>TT Commons Pro Regular</vt:lpstr>
      <vt:lpstr>TT Commons Pro Trial Light</vt:lpstr>
      <vt:lpstr>TT Ramillas Light</vt:lpstr>
      <vt:lpstr>TT Ramillas Trl Light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Olga Beznogova</cp:lastModifiedBy>
  <cp:revision>7</cp:revision>
  <dcterms:created xsi:type="dcterms:W3CDTF">2026-06-04T14:38:31Z</dcterms:created>
  <dcterms:modified xsi:type="dcterms:W3CDTF">2026-06-05T16:13:13Z</dcterms:modified>
</cp:coreProperties>
</file>